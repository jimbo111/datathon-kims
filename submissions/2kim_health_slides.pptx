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FFFFFF"/>
                </a:solidFill>
              </a:defRPr>
            </a:pPr>
            <a:r>
              <a:t>Your Zip Code is</a:t>
            </a:r>
            <a:br/>
            <a:r>
              <a:t>Your Health Sentence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ABBDD"/>
                </a:solidFill>
              </a:defRPr>
            </a:pPr>
            <a:r>
              <a:t>Food Deserts, Geographic Inequality, and Chronic Disease in America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7AAFF"/>
                </a:solidFill>
              </a:defRPr>
            </a:pPr>
            <a:r>
              <a:t>Team 2Kim  |  Jimmy + Alice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AA"/>
                </a:solidFill>
              </a:defRPr>
            </a:pPr>
            <a:r>
              <a:t>SBU AI Community Datathon 2026  |  Healthcare &amp; Wellness Track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669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CC66"/>
                </a:solidFill>
              </a:defRPr>
            </a:pPr>
            <a:r>
              <a:t>37 million Americans have diabetes ($327B/year). 19 million live in food deserts.</a:t>
            </a:r>
            <a:br/>
            <a:r>
              <a:t>Are these the same people? And is it their fault — or their zip code's?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Research Question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515600" cy="1188720"/>
          </a:xfrm>
          <a:prstGeom prst="roundRect">
            <a:avLst/>
          </a:prstGeom>
          <a:solidFill>
            <a:srgbClr val="F0F4FF"/>
          </a:solidFill>
          <a:ln w="254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2200" b="1">
                <a:solidFill>
                  <a:srgbClr val="1A56DB"/>
                </a:solidFill>
              </a:defRPr>
            </a:pPr>
            <a:r>
              <a:t>How do food access, income, and race independently and jointly predict</a:t>
            </a:r>
          </a:p>
          <a:p>
            <a:pPr>
              <a:defRPr sz="2200" b="1">
                <a:solidFill>
                  <a:srgbClr val="1A56DB"/>
                </a:solidFill>
              </a:defRPr>
            </a:pPr>
            <a:r>
              <a:t>diabetes, obesity, and life expectancy across U.S. census tracts?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</a:defRPr>
            </a:pPr>
            <a:r>
              <a:t>Three sub-questions: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1. Does food desert status predict diabetes and obesity after controlling for poverty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and insurance?   →  the direct test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2. How much of the variation in diabetes is geographic, and what predicts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life expectancy most?   →  the scale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3. Does race remain a significant predictor of diabetes after accounting for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income and food access?   →  the depth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</a:defRPr>
            </a:pPr>
            <a:r>
              <a:t>Flow:   test it   →   measure its scale   →   probe deeper   →   identify where to 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Data: 5 Federal Datasets → 27,235 Census Tracts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515600" cy="777240"/>
          </a:xfrm>
          <a:prstGeom prst="roundRect">
            <a:avLst/>
          </a:prstGeom>
          <a:solidFill>
            <a:srgbClr val="F5F5F9"/>
          </a:solidFill>
          <a:ln w="12700">
            <a:solidFill>
              <a:srgbClr val="DD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600" b="1">
                <a:solidFill>
                  <a:srgbClr val="1A56DB"/>
                </a:solidFill>
              </a:defRPr>
            </a:pPr>
            <a:r>
              <a:t>USDA Food Access Atlas (2019)</a:t>
            </a:r>
          </a:p>
          <a:p>
            <a:pPr>
              <a:defRPr sz="1300">
                <a:solidFill>
                  <a:srgbClr val="666666"/>
                </a:solidFill>
              </a:defRPr>
            </a:pPr>
            <a:r>
              <a:t>Food desert classification by tract  —  ers.usda.gov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515600" cy="777240"/>
          </a:xfrm>
          <a:prstGeom prst="roundRect">
            <a:avLst/>
          </a:prstGeom>
          <a:solidFill>
            <a:srgbClr val="F5F5F9"/>
          </a:solidFill>
          <a:ln w="12700">
            <a:solidFill>
              <a:srgbClr val="DD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600" b="1">
                <a:solidFill>
                  <a:srgbClr val="1A56DB"/>
                </a:solidFill>
              </a:defRPr>
            </a:pPr>
            <a:r>
              <a:t>CDC PLACES (2025)</a:t>
            </a:r>
          </a:p>
          <a:p>
            <a:pPr>
              <a:defRPr sz="1300">
                <a:solidFill>
                  <a:srgbClr val="666666"/>
                </a:solidFill>
              </a:defRPr>
            </a:pPr>
            <a:r>
              <a:t>Diabetes, obesity, BP, depression prevalence  —  data.cdc.gov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26080"/>
            <a:ext cx="10515600" cy="777240"/>
          </a:xfrm>
          <a:prstGeom prst="roundRect">
            <a:avLst/>
          </a:prstGeom>
          <a:solidFill>
            <a:srgbClr val="F5F5F9"/>
          </a:solidFill>
          <a:ln w="12700">
            <a:solidFill>
              <a:srgbClr val="DD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600" b="1">
                <a:solidFill>
                  <a:srgbClr val="1A56DB"/>
                </a:solidFill>
              </a:defRPr>
            </a:pPr>
            <a:r>
              <a:t>ACS 5-Year Estimates (2022)</a:t>
            </a:r>
          </a:p>
          <a:p>
            <a:pPr>
              <a:defRPr sz="1300">
                <a:solidFill>
                  <a:srgbClr val="666666"/>
                </a:solidFill>
              </a:defRPr>
            </a:pPr>
            <a:r>
              <a:t>Income, poverty, race, education by tract  —  Census Bureau 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10515600" cy="777240"/>
          </a:xfrm>
          <a:prstGeom prst="roundRect">
            <a:avLst/>
          </a:prstGeom>
          <a:solidFill>
            <a:srgbClr val="F5F5F9"/>
          </a:solidFill>
          <a:ln w="12700">
            <a:solidFill>
              <a:srgbClr val="DD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600" b="1">
                <a:solidFill>
                  <a:srgbClr val="1A56DB"/>
                </a:solidFill>
              </a:defRPr>
            </a:pPr>
            <a:r>
              <a:t>CDC Life Expectancy (USALEEP)</a:t>
            </a:r>
          </a:p>
          <a:p>
            <a:pPr>
              <a:defRPr sz="1300">
                <a:solidFill>
                  <a:srgbClr val="666666"/>
                </a:solidFill>
              </a:defRPr>
            </a:pPr>
            <a:r>
              <a:t>Life expectancy at birth by tract  —  ftp.cdc.gov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10515600" cy="777240"/>
          </a:xfrm>
          <a:prstGeom prst="roundRect">
            <a:avLst/>
          </a:prstGeom>
          <a:solidFill>
            <a:srgbClr val="F5F5F9"/>
          </a:solidFill>
          <a:ln w="12700">
            <a:solidFill>
              <a:srgbClr val="DD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600" b="1">
                <a:solidFill>
                  <a:srgbClr val="1A56DB"/>
                </a:solidFill>
              </a:defRPr>
            </a:pPr>
            <a:r>
              <a:t>HRSA HPSA (2026)</a:t>
            </a:r>
          </a:p>
          <a:p>
            <a:pPr>
              <a:defRPr sz="1300">
                <a:solidFill>
                  <a:srgbClr val="666666"/>
                </a:solidFill>
              </a:defRPr>
            </a:pPr>
            <a:r>
              <a:t>Primary care shortage designations  —  data.hrsa.gov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</a:defRPr>
            </a:pPr>
            <a:r>
              <a:t>All joined on 11-digit FIPS census tract code  |  Cleaning: sentinel values, group-quarters removal, FIPS standardization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Methods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56DB"/>
                </a:solidFill>
              </a:defRPr>
            </a:pPr>
            <a:r>
              <a:t>OLS Regression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109728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diabetes/obesity ~ food_desert + poverty + uninsured, with HC1 robust standard errors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56DB"/>
                </a:solidFill>
              </a:defRPr>
            </a:pPr>
            <a:r>
              <a:t>VIF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78308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Variance Inflation Factor — confirms no multicollinearity between predictors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56DB"/>
                </a:solidFill>
              </a:defRPr>
            </a:pPr>
            <a:r>
              <a:t>Odds Ratio + t-test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46888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2x2 table (food desert x high/low diabetes) + Welch t-test for mean comparison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54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56DB"/>
                </a:solidFill>
              </a:defRPr>
            </a:pPr>
            <a:r>
              <a:t>Variance Decomposition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315468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Between-county vs within-county diabetes variance, weighted by tract 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0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56DB"/>
                </a:solidFill>
              </a:defRPr>
            </a:pPr>
            <a:r>
              <a:t>Standardized Betas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84048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Z-scored predictors → coefficients show relative importance for life expectancy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262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56DB"/>
                </a:solidFill>
              </a:defRPr>
            </a:pPr>
            <a:r>
              <a:t>Interaction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452628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diabetes ~ income x race + food_desert — tests if income's effect differs by race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212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56DB"/>
                </a:solidFill>
              </a:defRPr>
            </a:pPr>
            <a:r>
              <a:t>Health Disadvantage Index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521208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Equal-weighted z-score composite: food access + poverty + healthcare access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EDA: Food Desert Tracts Have Worse Outcomes</a:t>
            </a:r>
          </a:p>
        </p:txBody>
      </p:sp>
      <p:pic>
        <p:nvPicPr>
          <p:cNvPr id="3" name="Picture 2" descr="eda-food-desert-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430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669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Food desert tracts show ~3.7pp higher diabetes, elevated obesity/BP, and lower life expectancy.</a:t>
            </a:r>
            <a:br/>
            <a:r>
              <a:t>This motivates sub-question 1: is this just poverty, or does food access itself matter?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EDA: Poverty, Food Deserts, and Race Cluster Together</a:t>
            </a:r>
          </a:p>
        </p:txBody>
      </p:sp>
      <p:pic>
        <p:nvPicPr>
          <p:cNvPr id="3" name="Picture 2" descr="eda-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430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669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Left: Food deserts (red) cluster in high-poverty, high-diabetes areas.</a:t>
            </a:r>
            <a:br/>
            <a:r>
              <a:t>Right: Majority-Black and -Hispanic tracts occupy the same region. This overlap motivates sub-question 3.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Sub-Q 1: Does food access independently predict diabetes?   Answer: YES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3200400" cy="1280160"/>
          </a:xfrm>
          <a:prstGeom prst="roundRect">
            <a:avLst/>
          </a:prstGeom>
          <a:solidFill>
            <a:srgbClr val="F5F5F9"/>
          </a:solidFill>
          <a:ln w="19050">
            <a:solidFill>
              <a:srgbClr val="DD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0D8A50"/>
                </a:solidFill>
              </a:defRPr>
            </a:pPr>
            <a:r>
              <a:t>5.45x</a:t>
            </a:r>
          </a:p>
          <a:p>
            <a:pPr algn="ctr">
              <a:defRPr sz="1200">
                <a:solidFill>
                  <a:srgbClr val="666666"/>
                </a:solidFill>
              </a:defRPr>
            </a:pPr>
            <a:r>
              <a:t>Ecological odds of above-median</a:t>
            </a:r>
            <a:br/>
            <a:r>
              <a:t>diabetes in food desert tracts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1097280"/>
            <a:ext cx="3200400" cy="1280160"/>
          </a:xfrm>
          <a:prstGeom prst="roundRect">
            <a:avLst/>
          </a:prstGeom>
          <a:solidFill>
            <a:srgbClr val="F5F5F9"/>
          </a:solidFill>
          <a:ln w="19050">
            <a:solidFill>
              <a:srgbClr val="DD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1A56DB"/>
                </a:solidFill>
              </a:defRPr>
            </a:pPr>
            <a:r>
              <a:t>R² = 0.50</a:t>
            </a:r>
          </a:p>
          <a:p>
            <a:pPr algn="ctr">
              <a:defRPr sz="1200">
                <a:solidFill>
                  <a:srgbClr val="666666"/>
                </a:solidFill>
              </a:defRPr>
            </a:pPr>
            <a:r>
              <a:t>Of diabetes variance explained</a:t>
            </a:r>
            <a:br/>
            <a:r>
              <a:t>by 3 predictors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1097280"/>
            <a:ext cx="3200400" cy="1280160"/>
          </a:xfrm>
          <a:prstGeom prst="roundRect">
            <a:avLst/>
          </a:prstGeom>
          <a:solidFill>
            <a:srgbClr val="F5F5F9"/>
          </a:solidFill>
          <a:ln w="19050">
            <a:solidFill>
              <a:srgbClr val="DD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D46B08"/>
                </a:solidFill>
              </a:defRPr>
            </a:pPr>
            <a:r>
              <a:t>15.95%</a:t>
            </a:r>
          </a:p>
          <a:p>
            <a:pPr algn="ctr">
              <a:defRPr sz="1200">
                <a:solidFill>
                  <a:srgbClr val="666666"/>
                </a:solidFill>
              </a:defRPr>
            </a:pPr>
            <a:r>
              <a:t>Mean diabetes in food deserts</a:t>
            </a:r>
            <a:br/>
            <a:r>
              <a:t>vs 12.28% in non-deserts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</a:defRPr>
            </a:pPr>
            <a:r>
              <a:t>OLS Regression Results: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diabetes_pct ~ is_food_desert + poverty_rate + uninsured_pct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Food desert remains significant (p &lt; 0.001) AFTER controlling for poverty and insurance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Partial correlation confirms food access predicts diabetes independent of income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95% CI for odds ratio: 4.90 – 6.06  |  VIF &lt; 1.5 for all predictors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29200"/>
            <a:ext cx="10515600" cy="914400"/>
          </a:xfrm>
          <a:prstGeom prst="roundRect">
            <a:avLst/>
          </a:prstGeom>
          <a:solidFill>
            <a:srgbClr val="ECFAF0"/>
          </a:solidFill>
          <a:ln w="25400">
            <a:solidFill>
              <a:srgbClr val="0D8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700" b="1">
                <a:solidFill>
                  <a:srgbClr val="0D8A50"/>
                </a:solidFill>
              </a:defRPr>
            </a:pPr>
            <a:r>
              <a:t>Takeaway: Food access is not just a proxy for poverty. It independently predicts diabetes.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Sub-Q 2: How much does geography matter?   44% of diabetes variance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2377440" cy="1097280"/>
          </a:xfrm>
          <a:prstGeom prst="roundRect">
            <a:avLst/>
          </a:prstGeom>
          <a:solidFill>
            <a:srgbClr val="F5F5F9"/>
          </a:solidFill>
          <a:ln w="19050">
            <a:solidFill>
              <a:srgbClr val="DD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0D8A50"/>
                </a:solidFill>
              </a:defRPr>
            </a:pPr>
            <a:r>
              <a:t>43.9%</a:t>
            </a:r>
          </a:p>
          <a:p>
            <a:pPr algn="ctr">
              <a:defRPr sz="1200">
                <a:solidFill>
                  <a:srgbClr val="666666"/>
                </a:solidFill>
              </a:defRPr>
            </a:pPr>
            <a:r>
              <a:t>Between-county</a:t>
            </a:r>
            <a:br/>
            <a:r>
              <a:t>diabetes variance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005840"/>
            <a:ext cx="2377440" cy="1097280"/>
          </a:xfrm>
          <a:prstGeom prst="roundRect">
            <a:avLst/>
          </a:prstGeom>
          <a:solidFill>
            <a:srgbClr val="F5F5F9"/>
          </a:solidFill>
          <a:ln w="19050">
            <a:solidFill>
              <a:srgbClr val="DD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C0392B"/>
                </a:solidFill>
              </a:defRPr>
            </a:pPr>
            <a:r>
              <a:t>7.4 yrs</a:t>
            </a:r>
          </a:p>
          <a:p>
            <a:pPr algn="ctr">
              <a:defRPr sz="1200">
                <a:solidFill>
                  <a:srgbClr val="666666"/>
                </a:solidFill>
              </a:defRPr>
            </a:pPr>
            <a:r>
              <a:t>Life expectancy gap</a:t>
            </a:r>
            <a:br/>
            <a:r>
              <a:t>Q5 vs Q1 income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005840"/>
            <a:ext cx="2377440" cy="1097280"/>
          </a:xfrm>
          <a:prstGeom prst="roundRect">
            <a:avLst/>
          </a:prstGeom>
          <a:solidFill>
            <a:srgbClr val="F5F5F9"/>
          </a:solidFill>
          <a:ln w="19050">
            <a:solidFill>
              <a:srgbClr val="DD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1A56DB"/>
                </a:solidFill>
              </a:defRPr>
            </a:pPr>
            <a:r>
              <a:t>B=+1.31</a:t>
            </a:r>
          </a:p>
          <a:p>
            <a:pPr algn="ctr">
              <a:defRPr sz="1200">
                <a:solidFill>
                  <a:srgbClr val="666666"/>
                </a:solidFill>
              </a:defRPr>
            </a:pPr>
            <a:r>
              <a:t>Education is #1</a:t>
            </a:r>
            <a:br/>
            <a:r>
              <a:t>life expectancy predictor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1005840"/>
            <a:ext cx="2377440" cy="1097280"/>
          </a:xfrm>
          <a:prstGeom prst="roundRect">
            <a:avLst/>
          </a:prstGeom>
          <a:solidFill>
            <a:srgbClr val="F5F5F9"/>
          </a:solidFill>
          <a:ln w="19050">
            <a:solidFill>
              <a:srgbClr val="DD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D46B08"/>
                </a:solidFill>
              </a:defRPr>
            </a:pPr>
            <a:r>
              <a:t>B=-1.13</a:t>
            </a:r>
          </a:p>
          <a:p>
            <a:pPr algn="ctr">
              <a:defRPr sz="1200">
                <a:solidFill>
                  <a:srgbClr val="666666"/>
                </a:solidFill>
              </a:defRPr>
            </a:pPr>
            <a:r>
              <a:t>Race is #2</a:t>
            </a:r>
            <a:br/>
            <a:r>
              <a:t>(shorter life)</a:t>
            </a:r>
          </a:p>
        </p:txBody>
      </p:sp>
      <p:pic>
        <p:nvPicPr>
          <p:cNvPr id="7" name="Picture 6" descr="eda-life-ex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286000"/>
            <a:ext cx="11430000" cy="36576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6035040"/>
            <a:ext cx="10515600" cy="640080"/>
          </a:xfrm>
          <a:prstGeom prst="roundRect">
            <a:avLst/>
          </a:prstGeom>
          <a:solidFill>
            <a:srgbClr val="FFF0F0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ctr">
              <a:defRPr sz="1600" b="1">
                <a:solidFill>
                  <a:srgbClr val="C0392B"/>
                </a:solidFill>
              </a:defRPr>
            </a:pPr>
            <a:r>
              <a:t>Takeaway: 7.4 years of life — nearly a decade — determined by neighborhood income.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Sub-Q 3: Does race persist after controlling income + food?   YES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3474720" cy="1005840"/>
          </a:xfrm>
          <a:prstGeom prst="roundRect">
            <a:avLst/>
          </a:prstGeom>
          <a:solidFill>
            <a:srgbClr val="F5F5F9"/>
          </a:solidFill>
          <a:ln w="19050">
            <a:solidFill>
              <a:srgbClr val="DD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0D8A50"/>
                </a:solidFill>
              </a:defRPr>
            </a:pPr>
            <a:r>
              <a:t>R² 0.50 → 0.56</a:t>
            </a:r>
          </a:p>
          <a:p>
            <a:pPr algn="ctr">
              <a:defRPr sz="1200">
                <a:solidFill>
                  <a:srgbClr val="666666"/>
                </a:solidFill>
              </a:defRPr>
            </a:pPr>
            <a:r>
              <a:t>Race adds 6% explanatory power</a:t>
            </a:r>
            <a:br/>
            <a:r>
              <a:t>beyond income + food access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005840"/>
            <a:ext cx="3474720" cy="1005840"/>
          </a:xfrm>
          <a:prstGeom prst="roundRect">
            <a:avLst/>
          </a:prstGeom>
          <a:solidFill>
            <a:srgbClr val="F5F5F9"/>
          </a:solidFill>
          <a:ln w="19050">
            <a:solidFill>
              <a:srgbClr val="DD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1A56DB"/>
                </a:solidFill>
              </a:defRPr>
            </a:pPr>
            <a:r>
              <a:t>p near 0</a:t>
            </a:r>
          </a:p>
          <a:p>
            <a:pPr algn="ctr">
              <a:defRPr sz="1200">
                <a:solidFill>
                  <a:srgbClr val="666666"/>
                </a:solidFill>
              </a:defRPr>
            </a:pPr>
            <a:r>
              <a:t>Race is statistically</a:t>
            </a:r>
            <a:br/>
            <a:r>
              <a:t>significant</a:t>
            </a:r>
          </a:p>
        </p:txBody>
      </p:sp>
      <p:pic>
        <p:nvPicPr>
          <p:cNvPr id="5" name="Picture 4" descr="eda-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194560"/>
            <a:ext cx="5486400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22860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6B08"/>
                </a:solidFill>
              </a:defRPr>
            </a:pPr>
            <a:r>
              <a:t>What the heatmap reveals: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74320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Across rows: diabetes falls as income rises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(expected pattern)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Down columns: at the SAME income,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majority-Black tracts have higher diabetes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Richest Black tracts ~ middle-income White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Suggests structural factors beyond economics: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redlining, environmental racism, care access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Synthesis: Health Disadvantage Index — Where Inequality Compounds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</a:defRPr>
            </a:pPr>
            <a:r>
              <a:t>Equal-weighted composite:  Food Access  +  Poverty  +  Healthcare Access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286000" cy="1188720"/>
          </a:xfrm>
          <a:prstGeom prst="roundRect">
            <a:avLst/>
          </a:prstGeom>
          <a:solidFill>
            <a:srgbClr val="F5F5F9"/>
          </a:solidFill>
          <a:ln w="19050">
            <a:solidFill>
              <a:srgbClr val="DD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C0392B"/>
                </a:solidFill>
              </a:defRPr>
            </a:pPr>
            <a:r>
              <a:t>8.6pp</a:t>
            </a:r>
          </a:p>
          <a:p>
            <a:pPr algn="ctr">
              <a:defRPr sz="1200">
                <a:solidFill>
                  <a:srgbClr val="666666"/>
                </a:solidFill>
              </a:defRPr>
            </a:pPr>
            <a:r>
              <a:t>Diabetes gap</a:t>
            </a:r>
            <a:br/>
            <a:r>
              <a:t>worst vs best 10%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463040"/>
            <a:ext cx="2286000" cy="1188720"/>
          </a:xfrm>
          <a:prstGeom prst="roundRect">
            <a:avLst/>
          </a:prstGeom>
          <a:solidFill>
            <a:srgbClr val="F5F5F9"/>
          </a:solidFill>
          <a:ln w="19050">
            <a:solidFill>
              <a:srgbClr val="DD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C0392B"/>
                </a:solidFill>
              </a:defRPr>
            </a:pPr>
            <a:r>
              <a:t>12.2pp</a:t>
            </a:r>
          </a:p>
          <a:p>
            <a:pPr algn="ctr">
              <a:defRPr sz="1200">
                <a:solidFill>
                  <a:srgbClr val="666666"/>
                </a:solidFill>
              </a:defRPr>
            </a:pPr>
            <a:r>
              <a:t>Obesity gap</a:t>
            </a:r>
            <a:br/>
            <a:r>
              <a:t>worst vs best 10%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1463040"/>
            <a:ext cx="2286000" cy="1188720"/>
          </a:xfrm>
          <a:prstGeom prst="roundRect">
            <a:avLst/>
          </a:prstGeom>
          <a:solidFill>
            <a:srgbClr val="F5F5F9"/>
          </a:solidFill>
          <a:ln w="19050">
            <a:solidFill>
              <a:srgbClr val="DD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C0392B"/>
                </a:solidFill>
              </a:defRPr>
            </a:pPr>
            <a:r>
              <a:t>5.9 yrs</a:t>
            </a:r>
          </a:p>
          <a:p>
            <a:pPr algn="ctr">
              <a:defRPr sz="1200">
                <a:solidFill>
                  <a:srgbClr val="666666"/>
                </a:solidFill>
              </a:defRPr>
            </a:pPr>
            <a:r>
              <a:t>Life expectancy gap</a:t>
            </a:r>
            <a:br/>
            <a:r>
              <a:t>worst vs best 10%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463040"/>
            <a:ext cx="2286000" cy="1188720"/>
          </a:xfrm>
          <a:prstGeom prst="roundRect">
            <a:avLst/>
          </a:prstGeom>
          <a:solidFill>
            <a:srgbClr val="F5F5F9"/>
          </a:solidFill>
          <a:ln w="19050">
            <a:solidFill>
              <a:srgbClr val="DD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C0392B"/>
                </a:solidFill>
              </a:defRPr>
            </a:pPr>
            <a:r>
              <a:t>27.6pp</a:t>
            </a:r>
          </a:p>
          <a:p>
            <a:pPr algn="ctr">
              <a:defRPr sz="1200">
                <a:solidFill>
                  <a:srgbClr val="666666"/>
                </a:solidFill>
              </a:defRPr>
            </a:pPr>
            <a:r>
              <a:t>Poverty gap</a:t>
            </a:r>
            <a:br/>
            <a:r>
              <a:t>worst vs best 10%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</a:defRPr>
            </a:pPr>
            <a:r>
              <a:t>Pathway: Poverty → Food Desert → Obesity → Diabetes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Each link shows a statistically significant bivariate association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When food access, poverty, and healthcare shortage stack up in the same tract, outcomes are dramatically worse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These tracts are identifiable — the data tells us exactly where to intervene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Note: bivariate associations, not formal mediation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486400"/>
            <a:ext cx="10515600" cy="731520"/>
          </a:xfrm>
          <a:prstGeom prst="roundRect">
            <a:avLst/>
          </a:prstGeom>
          <a:solidFill>
            <a:srgbClr val="FFF0F0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ctr">
              <a:defRPr sz="1600" b="1">
                <a:solidFill>
                  <a:srgbClr val="C0392B"/>
                </a:solidFill>
              </a:defRPr>
            </a:pPr>
            <a:r>
              <a:t>The worst-HDI tracts: 8.6pp more diabetes, 12.2pp more obesity, residents die ~6 years earlier.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Honest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</a:defRPr>
            </a:pPr>
            <a:r>
              <a:t>Transparency strengthens our analysis.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6B08"/>
                </a:solidFill>
              </a:defRPr>
            </a:pPr>
            <a:r>
              <a:t>Ecological fallacy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13716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Tract-level data — cannot infer individual risk from area-level 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6B08"/>
                </a:solidFill>
              </a:defRPr>
            </a:pPr>
            <a:r>
              <a:t>Correlation ≠ causation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920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Cross-sectional, observational study with unmeasured confounders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6B08"/>
                </a:solidFill>
              </a:defRPr>
            </a:pPr>
            <a:r>
              <a:t>Census tract mismatch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4688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USDA (2010) vs PLACES (2020) tracts; ~85-95% match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6B08"/>
                </a:solidFill>
              </a:defRPr>
            </a:pPr>
            <a:r>
              <a:t>Race classification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017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40% plurality among White/Black/Hispanic; erases Asian, Native, multiracial groups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661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6B08"/>
                </a:solidFill>
              </a:defRPr>
            </a:pPr>
            <a:r>
              <a:t>Spatial autocorrelation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5661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Neighboring tracts correlated → inflated sample size → anti-conservative p-values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1148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6B08"/>
                </a:solidFill>
              </a:defRPr>
            </a:pPr>
            <a:r>
              <a:t>Multiple comparisons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4114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~15 tests without FDR correction; family-wise error rate ~54%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6634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6B08"/>
                </a:solidFill>
              </a:defRPr>
            </a:pPr>
            <a:r>
              <a:t>No population weighting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46634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Rural tracts (1,500 people) weighted same as urban tracts (7,500)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21207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6B08"/>
                </a:solidFill>
              </a:defRPr>
            </a:pPr>
            <a:r>
              <a:t>Modeled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5212079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CDC PLACES uses small-area estimation, not direct measurement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Conclusion: Target Places, Not Just People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515600" cy="1188720"/>
          </a:xfrm>
          <a:prstGeom prst="roundRect">
            <a:avLst/>
          </a:prstGeom>
          <a:solidFill>
            <a:srgbClr val="F0F4FF"/>
          </a:solidFill>
          <a:ln w="254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800">
                <a:solidFill>
                  <a:srgbClr val="1A56DB"/>
                </a:solidFill>
              </a:defRPr>
            </a:pPr>
            <a:r>
              <a:t>Food access, income, healthcare availability, and race compound geographically to create</a:t>
            </a:r>
          </a:p>
          <a:p>
            <a:pPr>
              <a:defRPr sz="1800">
                <a:solidFill>
                  <a:srgbClr val="1A56DB"/>
                </a:solidFill>
              </a:defRPr>
            </a:pPr>
            <a:r>
              <a:t>zones of health disadvantage. Diabetes and obesity are systemic outcomes, not personal failings.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</a:defRPr>
            </a:pPr>
            <a:r>
              <a:t>Policy Recommendations: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Bring grocery stores and fresh food to USDA-classified food deserts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Expand Medicaid and community health centers in HRSA shortage areas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Invest in education — the #1 predictor of life expectancy (B = +1.31)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Target the worst-HDI tracts directly — they are identifiable in our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</a:defRPr>
            </a:pPr>
            <a:r>
              <a:t>Future Work: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949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666666"/>
                </a:solidFill>
              </a:defRPr>
            </a:pPr>
            <a:r>
              <a:t>Validate with individual-level NHANES data  |  Spatial regression (Moran's I)  |  COVID-19 temporal analysis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77AAFF"/>
                </a:solidFill>
              </a:defRPr>
            </a:pPr>
            <a:r>
              <a:t>Team 2Kim  |  Jimmy + Alice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AA"/>
                </a:solidFill>
              </a:defRPr>
            </a:pPr>
            <a:r>
              <a:t>27,235 census tracts  |  5 federal datasets  |  4 analysis phases</a:t>
            </a:r>
            <a:br/>
            <a:r>
              <a:t>github.com/jimbo111/datathon-kims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7548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CC66"/>
                </a:solidFill>
              </a:defRPr>
            </a:pPr>
            <a:r>
              <a:t>"We identified the tracts. The data is public.</a:t>
            </a:r>
            <a:br/>
            <a:r>
              <a:t>The question is whether we act on it."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