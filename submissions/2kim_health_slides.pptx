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Your Zip Code is Your Health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B949E"/>
                </a:solidFill>
              </a:defRPr>
            </a:pPr>
            <a:r>
              <a:t>Food Deserts, Geographic Inequality, and Chronic Disease in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F6FEB"/>
                </a:solidFill>
              </a:defRPr>
            </a:pPr>
            <a:r>
              <a:t>Team 2Kim  |  Jimmy + Alice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</a:defRPr>
            </a:pPr>
            <a:r>
              <a:t>SBU AI Community Datathon 2026  |  Healthcare &amp; Wellness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1C40F"/>
                </a:solidFill>
              </a:defRPr>
            </a:pPr>
            <a:r>
              <a:t>Does living in a food desert independently predict higher rates of</a:t>
            </a:r>
            <a:br/>
            <a:r>
              <a:t>diabetes and obesity, even after controlling for income, insurance, and race?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Sub-questions: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1. How much of diabetes variance is explained by geography (between-county vs within)?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2. What is the life expectancy gap between richest and poorest tracts?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3. After controlling for income + food access, does race still predict diabetes?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Core thesis: Where you live — not just how you live — determines your health.</a:t>
            </a:r>
            <a:br/>
            <a:r>
              <a:t>Food access, income, and race cluster geographically and compound into</a:t>
            </a:r>
            <a:br/>
            <a:r>
              <a:t>measurable chronic disease and mortality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Data: 5 Federal Datasets, 27,235 Census Tracts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USDA Food Access Atlas (2019)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Food desert flags by tract  —  ers.usda.gov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CDC PLACES (2025)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Diabetes, obesity, BP, depression prevalence  —  data.cdc.gov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ACS 5-Year Estimates (2022)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Income, poverty, race, education  —  Census Bureau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CDC Life Expectancy (USALEEP)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Life expectancy at birth by tract  —  ftp.cdc.gov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HRSA HPSA (2026)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Primary care shortage designations  —  data.hrsa.gov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All datasets joined on 11-digit FIPS census tract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1887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Download, clean, standardize 5 datasets; merge on FIPS;</a:t>
            </a:r>
            <a:br/>
            <a:r>
              <a:t>filter group-quarters tracts; compute derived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OLS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9659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diabetes/obesity ~ food_desert + poverty + uninsured</a:t>
            </a:r>
            <a:br/>
            <a:r>
              <a:t>with HC1 robust standard errors; VIF multicollinearity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Odds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2x2 contingency table: food desert (yes/no) x diabetes (above/below median)</a:t>
            </a:r>
            <a:br/>
            <a:r>
              <a:t>Welch t-test for mean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Variance Decomposition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520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Between-county vs within-county diabetes variance</a:t>
            </a:r>
            <a:br/>
            <a:r>
              <a:t>(weighted by tract count per county)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Interaction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diabetes ~ income x race + food_desert</a:t>
            </a:r>
            <a:br/>
            <a:r>
              <a:t>Tests if income's protective effect differs by 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</a:defRPr>
            </a:pPr>
            <a:r>
              <a:t>Health Disadvantage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074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Equal-weighted z-score composite:</a:t>
            </a:r>
            <a:br/>
            <a:r>
              <a:t>food access + poverty + healthcare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EDA: Food Desert vs Non-Food-Desert Tracts</a:t>
            </a:r>
          </a:p>
        </p:txBody>
      </p:sp>
      <p:pic>
        <p:nvPicPr>
          <p:cNvPr id="3" name="Picture 2" descr="eda-food-desert-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Food desert tracts show higher diabetes, obesity, and blood pressure — and lower life expectancy.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EDA: Correlation Matrix</a:t>
            </a:r>
          </a:p>
        </p:txBody>
      </p:sp>
      <p:pic>
        <p:nvPicPr>
          <p:cNvPr id="3" name="Picture 2" descr="eda-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Poverty, food desert status, and physical inactivity strongly correlate with diabetes and obesity. Education correlates with better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EDA: Poverty vs Diabetes by Food Desert Status &amp; Race</a:t>
            </a:r>
          </a:p>
        </p:txBody>
      </p:sp>
      <p:pic>
        <p:nvPicPr>
          <p:cNvPr id="3" name="Picture 2" descr="eda-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43000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Food desert tracts (red) cluster in the high-poverty, high-diabetes corner. Black and Hispanic tracts concentrate in the same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Finding 1: Food Deserts Predict Disease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0040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5.45x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Odds of above-median diabetes</a:t>
            </a:r>
            <a:br/>
            <a:r>
              <a:t>in food desert 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097280"/>
            <a:ext cx="320040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R² = 0.50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Variance explained by</a:t>
            </a:r>
            <a:br/>
            <a:r>
              <a:t>food desert + poverty + uninsured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097280"/>
            <a:ext cx="320040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0883E"/>
                </a:solidFill>
              </a:defRPr>
            </a:pPr>
            <a:r>
              <a:t>15.95%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Mean diabetes in food deserts</a:t>
            </a:r>
            <a:br/>
            <a:r>
              <a:t>vs 12.28% non-desert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OLS Regression Results: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Food desert status, poverty rate, and uninsured % explain 50% of diabetes variation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95% CI for odds ratio: 4.90 - 6.06 (entirely above 1.0)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Partial correlation: food access predicts diabetes even after controlling for income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VIF check confirms no multicollinearity among predictors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Method: OLS with HC1 robust standard errors; odds ratio from median-split 2x2 table;</a:t>
            </a:r>
            <a:br/>
            <a:r>
              <a:t>Welch t-test for mean difference (p &lt; 0.001)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Finding 2: The Zip Code Effect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256032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43.9%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Of diabetes variance is</a:t>
            </a:r>
            <a:br/>
            <a:r>
              <a:t>between-county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097280"/>
            <a:ext cx="256032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7.4 yrs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Life expectancy gap</a:t>
            </a:r>
            <a:br/>
            <a:r>
              <a:t>Q5 vs Q1 income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097280"/>
            <a:ext cx="2560320" cy="13716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+1.31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Education is #1 predictor</a:t>
            </a:r>
            <a:br/>
            <a:r>
              <a:t>of life expectancy (std beta)</a:t>
            </a:r>
          </a:p>
        </p:txBody>
      </p:sp>
      <p:pic>
        <p:nvPicPr>
          <p:cNvPr id="6" name="Picture 5" descr="eda-life-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109728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Method: Weighted variance decomposition; OLS with standardized predictors for comparable betas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Finding 3: Race Persists After Controlling for Income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47472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R² 0.50 → 0.56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Adding race improves model</a:t>
            </a:r>
            <a:br/>
            <a:r>
              <a:t>(+6% explained variance)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05840"/>
            <a:ext cx="347472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p ≈ 0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Race is statistically</a:t>
            </a:r>
            <a:br/>
            <a:r>
              <a:t>significant</a:t>
            </a:r>
          </a:p>
        </p:txBody>
      </p:sp>
      <p:pic>
        <p:nvPicPr>
          <p:cNvPr id="5" name="Picture 4" descr="eda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59436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883E"/>
                </a:solidFill>
              </a:defRPr>
            </a:pPr>
            <a:r>
              <a:t>Cross-Comparison: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31089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High-income Black tracts: 12.96% diabetes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Low-income White tracts: 14.2% diabetes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Income narrows the gap but does not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close it — structural factors beyond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economics drive racial health disparities.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5303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Method: OLS with continuous income x race</a:t>
            </a:r>
            <a:br/>
            <a:r>
              <a:t>interaction term; residual R² comparison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Health Disadvantage Index: Compounding Inequality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</a:defRPr>
            </a:pPr>
            <a:r>
              <a:t>Equal-weighted composite: Food Access + Poverty + Healthcare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8.6pp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Diabetes gap</a:t>
            </a:r>
            <a:br/>
            <a:r>
              <a:t>worst vs best decile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645920"/>
            <a:ext cx="256032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12.2pp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Obesity gap</a:t>
            </a:r>
            <a:br/>
            <a:r>
              <a:t>worst vs best decile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256032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5.9 yrs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Life expectancy gap</a:t>
            </a:r>
            <a:br/>
            <a:r>
              <a:t>worst vs best decile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28600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27.6pp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Poverty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Pathway: Poverty → Food Desert → Obesity → Diabetes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Each link in the pathway shows a statistically significant bivariate association.</a:t>
            </a:r>
            <a:br/>
            <a:r>
              <a:t>When food access, poverty, and healthcare shortage all stack up in the same tract,</a:t>
            </a:r>
            <a:br/>
            <a:r>
              <a:t>outcomes are dramatically worse. These tracts are identifiable — the data tells us</a:t>
            </a:r>
            <a:br/>
            <a:r>
              <a:t>exactly where intervention is most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Note: The pathway shows bivariate associations, not formal mediation. Equal weights avoid</a:t>
            </a:r>
            <a:br/>
            <a:r>
              <a:t>circularity (deriving weights from same data used to validate).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Limitations &amp; Ethical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Ecological fallacy — tract-level data, not individual-level. We cannot infer personal risk.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Correlation, not causation — observational study with unmeasured confounders.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Census tract mismatch — USDA (2010) vs PLACES (2020) tracts; ~85-95% match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Simplified race classification — 40% plurality threshold; erases Asian, Native, multiracial communities.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Spatial autocorrelation — neighboring tracts are correlated, inflating effective sample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Multiple comparisons — ~15 tests without correction; individual p-values are anti-conservative.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No population weighting — rural and urban tracts weighted equally.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Self-reported/modeled data — CDC PLACES uses small-area estimation, not direct measurement.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 &amp; Policy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1C40F"/>
                </a:solidFill>
              </a:defRPr>
            </a:pPr>
            <a:r>
              <a:t>These findings reframe obesity and diabetes from personal failings to systemic</a:t>
            </a:r>
            <a:br/>
            <a:r>
              <a:t>outcomes. Food access, income, healthcare availability, and race compound</a:t>
            </a:r>
            <a:br/>
            <a:r>
              <a:t>geographically to create zones of health disadvantage.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Policy Recommendations: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Bring grocery stores and fresh food access to USDA-classified food deserts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Expand Medicaid and community health centers in HRSA shortage areas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Target interventions at places, not just people — the worst-HDI tracts are identifiable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Address structural determinants: education investment has the strongest life expectancy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Future Work: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Link to individual-level NHANES data to validate ecological patterns</a:t>
            </a:r>
          </a:p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Spatial regression models to account for geographic clustering</a:t>
            </a:r>
          </a:p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Temporal analysis: did food desert tracts fare worse during COVID-19?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F6FEB"/>
                </a:solidFill>
              </a:defRPr>
            </a:pPr>
            <a:r>
              <a:t>Team 2Kim  |  Jimmy + Alice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</a:defRPr>
            </a:pPr>
            <a:r>
              <a:t>27,235 census tracts  |  5 federal datasets  |  4 analysis phases</a:t>
            </a:r>
            <a:br/>
            <a:r>
              <a:t>github.com/jimbo111/datathon-kims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0883E"/>
                </a:solidFill>
              </a:defRPr>
            </a:pPr>
            <a:r>
              <a:t>"We identified the tracts. The data is public. The question is whether we act on it."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