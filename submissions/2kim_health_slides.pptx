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</a:defRPr>
            </a:pPr>
            <a:r>
              <a:t>Your Zip Code is Your Health Sentence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8B949E"/>
                </a:solidFill>
              </a:defRPr>
            </a:pPr>
            <a:r>
              <a:t>Food Deserts, Geographic Inequality, and Chronic Disease in America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931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1F6FEB"/>
                </a:solidFill>
              </a:defRPr>
            </a:pPr>
            <a:r>
              <a:t>Team 2Kim  |  Jimmy + Alice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B949E"/>
                </a:solidFill>
              </a:defRPr>
            </a:pPr>
            <a:r>
              <a:t>SBU AI Community Datathon 2026  |  Healthcare &amp; Wellness Track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486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0883E"/>
                </a:solidFill>
              </a:defRPr>
            </a:pPr>
            <a:r>
              <a:t>37 million Americans have diabetes ($327B/year). 19 million live in food deserts.</a:t>
            </a:r>
            <a:br/>
            <a:r>
              <a:t>Are these the same people? And is it their fault — or their zip code's?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Research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1C40F"/>
                </a:solidFill>
              </a:defRPr>
            </a:pPr>
            <a:r>
              <a:t>Does living in a food desert independently predict higher</a:t>
            </a:r>
            <a:br/>
            <a:r>
              <a:t>diabetes and obesity, even after controlling for income,</a:t>
            </a:r>
            <a:br/>
            <a:r>
              <a:t>insurance, and race?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Three sub-questions we test: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1. How much diabetes variance does geography explain? (variance decomposition)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2. What is the life expectancy gap between rich and poor tracts? (regression)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</a:defRPr>
            </a:pPr>
            <a:r>
              <a:t>3. Does race still predict diabetes after controlling for income + food access? (interaction model)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035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B949E"/>
                </a:solidFill>
              </a:defRPr>
            </a:pPr>
            <a:r>
              <a:t>Thesis: Where you live — not just how you live — determines your health.</a:t>
            </a:r>
            <a:br/>
            <a:r>
              <a:t>Food access, income, and race compound geographically into measurable disease gaps.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Data: 5 Federal Datasets → 27,235 Census Tracts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10515600" cy="777240"/>
          </a:xfrm>
          <a:prstGeom prst="roundRect">
            <a:avLst/>
          </a:prstGeom>
          <a:solidFill>
            <a:srgbClr val="161B22"/>
          </a:solidFill>
          <a:ln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F6FEB"/>
                </a:solidFill>
              </a:defRPr>
            </a:pPr>
            <a:r>
              <a:t>USDA Food Access Atlas (2019)</a:t>
            </a:r>
          </a:p>
          <a:p>
            <a:pPr>
              <a:defRPr sz="1300">
                <a:solidFill>
                  <a:srgbClr val="8B949E"/>
                </a:solidFill>
              </a:defRPr>
            </a:pPr>
            <a:r>
              <a:t>Food desert classification by tract (binary + continuous)  —  ers.usda.gov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10515600" cy="777240"/>
          </a:xfrm>
          <a:prstGeom prst="roundRect">
            <a:avLst/>
          </a:prstGeom>
          <a:solidFill>
            <a:srgbClr val="161B22"/>
          </a:solidFill>
          <a:ln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F6FEB"/>
                </a:solidFill>
              </a:defRPr>
            </a:pPr>
            <a:r>
              <a:t>CDC PLACES (2025)</a:t>
            </a:r>
          </a:p>
          <a:p>
            <a:pPr>
              <a:defRPr sz="1300">
                <a:solidFill>
                  <a:srgbClr val="8B949E"/>
                </a:solidFill>
              </a:defRPr>
            </a:pPr>
            <a:r>
              <a:t>Diabetes, obesity, BP, depression, CHD, physical inactivity prevalence  —  data.cdc.gov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926080"/>
            <a:ext cx="10515600" cy="777240"/>
          </a:xfrm>
          <a:prstGeom prst="roundRect">
            <a:avLst/>
          </a:prstGeom>
          <a:solidFill>
            <a:srgbClr val="161B22"/>
          </a:solidFill>
          <a:ln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F6FEB"/>
                </a:solidFill>
              </a:defRPr>
            </a:pPr>
            <a:r>
              <a:t>ACS 5-Year Estimates (2022)</a:t>
            </a:r>
          </a:p>
          <a:p>
            <a:pPr>
              <a:defRPr sz="1300">
                <a:solidFill>
                  <a:srgbClr val="8B949E"/>
                </a:solidFill>
              </a:defRPr>
            </a:pPr>
            <a:r>
              <a:t>Income, poverty rate, race/ethnicity, education by tract  —  Census Bureau 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840480"/>
            <a:ext cx="10515600" cy="777240"/>
          </a:xfrm>
          <a:prstGeom prst="roundRect">
            <a:avLst/>
          </a:prstGeom>
          <a:solidFill>
            <a:srgbClr val="161B22"/>
          </a:solidFill>
          <a:ln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F6FEB"/>
                </a:solidFill>
              </a:defRPr>
            </a:pPr>
            <a:r>
              <a:t>CDC Life Expectancy (USALEEP)</a:t>
            </a:r>
          </a:p>
          <a:p>
            <a:pPr>
              <a:defRPr sz="1300">
                <a:solidFill>
                  <a:srgbClr val="8B949E"/>
                </a:solidFill>
              </a:defRPr>
            </a:pPr>
            <a:r>
              <a:t>Life expectancy at birth by tract (2010-2015)  —  ftp.cdc.gov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754880"/>
            <a:ext cx="10515600" cy="777240"/>
          </a:xfrm>
          <a:prstGeom prst="roundRect">
            <a:avLst/>
          </a:prstGeom>
          <a:solidFill>
            <a:srgbClr val="161B22"/>
          </a:solidFill>
          <a:ln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F6FEB"/>
                </a:solidFill>
              </a:defRPr>
            </a:pPr>
            <a:r>
              <a:t>HRSA HPSA (2026)</a:t>
            </a:r>
          </a:p>
          <a:p>
            <a:pPr>
              <a:defRPr sz="1300">
                <a:solidFill>
                  <a:srgbClr val="8B949E"/>
                </a:solidFill>
              </a:defRPr>
            </a:pPr>
            <a:r>
              <a:t>Primary care shortage area designations  —  data.hrsa.gov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</a:defRPr>
            </a:pPr>
            <a:r>
              <a:t>All joined on 11-digit FIPS census tract code. Merge quality: ~85-95% match rate.</a:t>
            </a:r>
            <a:br/>
            <a:r>
              <a:t>Cleaning: sentinel value filtering, group-quarters removal, FIPS standardization.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Methods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F6FEB"/>
                </a:solidFill>
              </a:defRPr>
            </a:pPr>
            <a:r>
              <a:t>OLS Regression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0" y="100584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</a:defRPr>
            </a:pPr>
            <a:r>
              <a:t>diabetes ~ food_desert + poverty + uninsured, with HC1 robust standard errors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6420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F6FEB"/>
                </a:solidFill>
              </a:defRPr>
            </a:pPr>
            <a:r>
              <a:t>VIF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64208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</a:defRPr>
            </a:pPr>
            <a:r>
              <a:t>Variance Inflation Factor to confirm no multicollinearity between predictors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22576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F6FEB"/>
                </a:solidFill>
              </a:defRPr>
            </a:pPr>
            <a:r>
              <a:t>Odds Ratio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322576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</a:defRPr>
            </a:pPr>
            <a:r>
              <a:t>2x2 table (food desert yes/no × high/low diabetes) + Welch t-test for means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80944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F6FEB"/>
                </a:solidFill>
              </a:defRPr>
            </a:pPr>
            <a:r>
              <a:t>Variance Decomposition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980944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</a:defRPr>
            </a:pPr>
            <a:r>
              <a:t>Between-county vs within-county diabetes variance, weighted by tract count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639311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F6FEB"/>
                </a:solidFill>
              </a:defRPr>
            </a:pPr>
            <a:r>
              <a:t>Standardized Betas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3639311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</a:defRPr>
            </a:pPr>
            <a:r>
              <a:t>Z-scored predictors → coefficients show relative importance for life expectancy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97679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F6FEB"/>
                </a:solidFill>
              </a:defRPr>
            </a:pPr>
            <a:r>
              <a:t>Interaction 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4297679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</a:defRPr>
            </a:pPr>
            <a:r>
              <a:t>diabetes ~ income × race + food_desert — tests if income's effect differs by race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56047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F6FEB"/>
                </a:solidFill>
              </a:defRPr>
            </a:pPr>
            <a:r>
              <a:t>Health Disadvantage Index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4956047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</a:defRPr>
            </a:pPr>
            <a:r>
              <a:t>Equal-weighted z-score composite: food access + poverty + healthcare access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EDA: Food Desert Tracts Have Worse Outcomes on Every Metric</a:t>
            </a:r>
          </a:p>
        </p:txBody>
      </p:sp>
      <p:pic>
        <p:nvPicPr>
          <p:cNvPr id="3" name="Picture 2" descr="eda-food-desert-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11430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5778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</a:defRPr>
            </a:pPr>
            <a:r>
              <a:t>Food desert tracts show ~3.7pp higher diabetes, elevated obesity and blood pressure, and lower</a:t>
            </a:r>
            <a:br/>
            <a:r>
              <a:t>life expectancy. This pattern is consistent, not random — motivating the regression analysis below.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EDA: Poverty, Food Deserts, and Race Cluster Together</a:t>
            </a:r>
          </a:p>
        </p:txBody>
      </p:sp>
      <p:pic>
        <p:nvPicPr>
          <p:cNvPr id="3" name="Picture 2" descr="eda-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11430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5778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</a:defRPr>
            </a:pPr>
            <a:r>
              <a:t>Left: Food desert tracts (red) cluster in the high-poverty, high-diabetes corner.</a:t>
            </a:r>
            <a:br/>
            <a:r>
              <a:t>Right: Majority-Black and -Hispanic tracts occupy the same region. The overlap is structural, not coincidental.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Finding 1: Food Deserts Independently Predict Diabetes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914400"/>
            <a:ext cx="3200400" cy="128016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2ECC71"/>
                </a:solidFill>
              </a:defRPr>
            </a:pPr>
            <a:r>
              <a:t>5.45x</a:t>
            </a:r>
          </a:p>
          <a:p>
            <a:pPr algn="ctr">
              <a:defRPr sz="1200">
                <a:solidFill>
                  <a:srgbClr val="8B949E"/>
                </a:solidFill>
              </a:defRPr>
            </a:pPr>
            <a:r>
              <a:t>Ecological odds of above-median</a:t>
            </a:r>
            <a:br/>
            <a:r>
              <a:t>diabetes in food desert tracts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97680" y="914400"/>
            <a:ext cx="3200400" cy="128016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1F6FEB"/>
                </a:solidFill>
              </a:defRPr>
            </a:pPr>
            <a:r>
              <a:t>R² = 0.50</a:t>
            </a:r>
          </a:p>
          <a:p>
            <a:pPr algn="ctr">
              <a:defRPr sz="1200">
                <a:solidFill>
                  <a:srgbClr val="8B949E"/>
                </a:solidFill>
              </a:defRPr>
            </a:pPr>
            <a:r>
              <a:t>Of diabetes variance explained</a:t>
            </a:r>
            <a:br/>
            <a:r>
              <a:t>by 3 predictors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63840" y="914400"/>
            <a:ext cx="3200400" cy="128016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F0883E"/>
                </a:solidFill>
              </a:defRPr>
            </a:pPr>
            <a:r>
              <a:t>15.95%</a:t>
            </a:r>
          </a:p>
          <a:p>
            <a:pPr algn="ctr">
              <a:defRPr sz="1200">
                <a:solidFill>
                  <a:srgbClr val="8B949E"/>
                </a:solidFill>
              </a:defRPr>
            </a:pPr>
            <a:r>
              <a:t>Mean diabetes in food deserts</a:t>
            </a:r>
            <a:br/>
            <a:r>
              <a:t>vs 12.28% in non-deserts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What the regression shows: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</a:defRPr>
            </a:pPr>
            <a:r>
              <a:t>OLS: diabetes_pct ~ is_food_desert + poverty_rate + uninsured_pct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</a:defRPr>
            </a:pPr>
            <a:r>
              <a:t>Food desert status remains significant (p &lt; 0.001) even after controlling for poverty and insurance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</a:defRPr>
            </a:pPr>
            <a:r>
              <a:t>Partial correlation confirms: food access predicts diabetes independent of income (r &gt; 0, p &lt; 0.001)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</a:defRPr>
            </a:pPr>
            <a:r>
              <a:t>95% CI for odds ratio: 4.90 – 6.06 (entirely above 1.0)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</a:defRPr>
            </a:pPr>
            <a:r>
              <a:t>VIF &lt; 5 for all predictors — no multicollinearity concern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3035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1C40F"/>
                </a:solidFill>
              </a:defRPr>
            </a:pPr>
            <a:r>
              <a:t>This answers our primary research question: YES, food desert status independently</a:t>
            </a:r>
            <a:br/>
            <a:r>
              <a:t>predicts diabetes beyond what poverty and insurance explain.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Finding 2: Your Zip Code Predicts Your Lifespan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914400"/>
            <a:ext cx="2377440" cy="11887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2ECC71"/>
                </a:solidFill>
              </a:defRPr>
            </a:pPr>
            <a:r>
              <a:t>43.9%</a:t>
            </a:r>
          </a:p>
          <a:p>
            <a:pPr algn="ctr">
              <a:defRPr sz="1200">
                <a:solidFill>
                  <a:srgbClr val="8B949E"/>
                </a:solidFill>
              </a:defRPr>
            </a:pPr>
            <a:r>
              <a:t>Of diabetes variance is</a:t>
            </a:r>
            <a:br/>
            <a:r>
              <a:t>between-county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83280" y="914400"/>
            <a:ext cx="2377440" cy="11887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E74C3C"/>
                </a:solidFill>
              </a:defRPr>
            </a:pPr>
            <a:r>
              <a:t>7.4 yrs</a:t>
            </a:r>
          </a:p>
          <a:p>
            <a:pPr algn="ctr">
              <a:defRPr sz="1200">
                <a:solidFill>
                  <a:srgbClr val="8B949E"/>
                </a:solidFill>
              </a:defRPr>
            </a:pPr>
            <a:r>
              <a:t>Life expectancy gap</a:t>
            </a:r>
            <a:br/>
            <a:r>
              <a:t>Q5 vs Q1 income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0" y="914400"/>
            <a:ext cx="2377440" cy="11887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1F6FEB"/>
                </a:solidFill>
              </a:defRPr>
            </a:pPr>
            <a:r>
              <a:t>β = +1.31</a:t>
            </a:r>
          </a:p>
          <a:p>
            <a:pPr algn="ctr">
              <a:defRPr sz="1200">
                <a:solidFill>
                  <a:srgbClr val="8B949E"/>
                </a:solidFill>
              </a:defRPr>
            </a:pPr>
            <a:r>
              <a:t>Education is #1</a:t>
            </a:r>
            <a:br/>
            <a:r>
              <a:t>life expectancy predictor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0" y="914400"/>
            <a:ext cx="2377440" cy="11887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F0883E"/>
                </a:solidFill>
              </a:defRPr>
            </a:pPr>
            <a:r>
              <a:t>β = -1.13</a:t>
            </a:r>
          </a:p>
          <a:p>
            <a:pPr algn="ctr">
              <a:defRPr sz="1200">
                <a:solidFill>
                  <a:srgbClr val="8B949E"/>
                </a:solidFill>
              </a:defRPr>
            </a:pPr>
            <a:r>
              <a:t>Race is #2</a:t>
            </a:r>
            <a:br/>
            <a:r>
              <a:t>(negative = shorter life)</a:t>
            </a:r>
          </a:p>
        </p:txBody>
      </p:sp>
      <p:pic>
        <p:nvPicPr>
          <p:cNvPr id="7" name="Picture 6" descr="eda-life-ex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377440"/>
            <a:ext cx="11430000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217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</a:defRPr>
            </a:pPr>
            <a:r>
              <a:t>7.4 years of life — nearly a decade — determined by which neighborhood you live 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Finding 3: Income Does Not Close the Racial Health Gap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822960"/>
            <a:ext cx="3291840" cy="109728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2ECC71"/>
                </a:solidFill>
              </a:defRPr>
            </a:pPr>
            <a:r>
              <a:t>ΔR² = 0.059</a:t>
            </a:r>
          </a:p>
          <a:p>
            <a:pPr algn="ctr">
              <a:defRPr sz="1200">
                <a:solidFill>
                  <a:srgbClr val="8B949E"/>
                </a:solidFill>
              </a:defRPr>
            </a:pPr>
            <a:r>
              <a:t>Race adds 6% explanatory</a:t>
            </a:r>
            <a:br/>
            <a:r>
              <a:t>power beyond income+food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822960"/>
            <a:ext cx="3291840" cy="109728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1F6FEB"/>
                </a:solidFill>
              </a:defRPr>
            </a:pPr>
            <a:r>
              <a:t>p ≈ 0</a:t>
            </a:r>
          </a:p>
          <a:p>
            <a:pPr algn="ctr">
              <a:defRPr sz="1200">
                <a:solidFill>
                  <a:srgbClr val="8B949E"/>
                </a:solidFill>
              </a:defRPr>
            </a:pPr>
            <a:r>
              <a:t>Race is statistically</a:t>
            </a:r>
            <a:br/>
            <a:r>
              <a:t>significant</a:t>
            </a:r>
          </a:p>
        </p:txBody>
      </p:sp>
      <p:pic>
        <p:nvPicPr>
          <p:cNvPr id="5" name="Picture 4" descr="eda-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103120"/>
            <a:ext cx="54864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2286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0883E"/>
                </a:solidFill>
              </a:defRPr>
            </a:pPr>
            <a:r>
              <a:t>What the heatmap reveals: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74320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Reading across: diabetes falls as income rises (expected)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Reading down: at the SAME income level, majority-Black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tracts have higher diabetes than majority-White tracts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The richest Black tracts ≈ middle-income White tracts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This points to structural factors beyond economics: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historical redlining, environmental racism, healthcare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access disparities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585216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</a:defRPr>
            </a:pPr>
            <a:r>
              <a:t>Method: OLS with continuous income × race</a:t>
            </a:r>
            <a:br/>
            <a:r>
              <a:t>interaction; residual R² comparison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Health Disadvantage Index: Where Inequality Compounds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B949E"/>
                </a:solidFill>
              </a:defRPr>
            </a:pPr>
            <a:r>
              <a:t>Equal-weighted composite: Food Access + Poverty + Healthcare Access (no circularity)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2286000" cy="11887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E74C3C"/>
                </a:solidFill>
              </a:defRPr>
            </a:pPr>
            <a:r>
              <a:t>8.6pp</a:t>
            </a:r>
          </a:p>
          <a:p>
            <a:pPr algn="ctr">
              <a:defRPr sz="1200">
                <a:solidFill>
                  <a:srgbClr val="8B949E"/>
                </a:solidFill>
              </a:defRPr>
            </a:pPr>
            <a:r>
              <a:t>Diabetes gap</a:t>
            </a:r>
            <a:br/>
            <a:r>
              <a:t>worst vs best 10%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91840" y="1371600"/>
            <a:ext cx="2286000" cy="11887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E74C3C"/>
                </a:solidFill>
              </a:defRPr>
            </a:pPr>
            <a:r>
              <a:t>12.2pp</a:t>
            </a:r>
          </a:p>
          <a:p>
            <a:pPr algn="ctr">
              <a:defRPr sz="1200">
                <a:solidFill>
                  <a:srgbClr val="8B949E"/>
                </a:solidFill>
              </a:defRPr>
            </a:pPr>
            <a:r>
              <a:t>Obesity gap</a:t>
            </a:r>
            <a:br/>
            <a:r>
              <a:t>worst vs best 10%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0" y="1371600"/>
            <a:ext cx="2286000" cy="11887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E74C3C"/>
                </a:solidFill>
              </a:defRPr>
            </a:pPr>
            <a:r>
              <a:t>5.9 yrs</a:t>
            </a:r>
          </a:p>
          <a:p>
            <a:pPr algn="ctr">
              <a:defRPr sz="1200">
                <a:solidFill>
                  <a:srgbClr val="8B949E"/>
                </a:solidFill>
              </a:defRPr>
            </a:pPr>
            <a:r>
              <a:t>Life expectancy gap</a:t>
            </a:r>
            <a:br/>
            <a:r>
              <a:t>worst vs best 10%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0" y="1371600"/>
            <a:ext cx="2286000" cy="11887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E74C3C"/>
                </a:solidFill>
              </a:defRPr>
            </a:pPr>
            <a:r>
              <a:t>27.6pp</a:t>
            </a:r>
          </a:p>
          <a:p>
            <a:pPr algn="ctr">
              <a:defRPr sz="1200">
                <a:solidFill>
                  <a:srgbClr val="8B949E"/>
                </a:solidFill>
              </a:defRPr>
            </a:pPr>
            <a:r>
              <a:t>Poverty gap</a:t>
            </a:r>
            <a:br/>
            <a:r>
              <a:t>worst vs best 10%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17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Pathway: Poverty → Food Desert → Obesity → Diabetes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747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Each link in this pathway shows a statistically significant bivariate association.</a:t>
            </a:r>
            <a:br/>
            <a:br/>
            <a:r>
              <a:t>When food access, poverty, and healthcare shortage all stack up in the same tract,</a:t>
            </a:r>
            <a:br/>
            <a:r>
              <a:t>outcomes are dramatically worse. These are identifiable places — the data tells us</a:t>
            </a:r>
            <a:br/>
            <a:r>
              <a:t>exactly where intervention is most needed.</a:t>
            </a:r>
            <a:br/>
            <a:br/>
            <a:r>
              <a:t>Note: These are bivariate associations, not formal mediation.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486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1C40F"/>
                </a:solidFill>
              </a:defRPr>
            </a:pPr>
            <a:r>
              <a:t>The bottom line: a tract in the worst HDI decile has 8.6pp more diabetes, 12.2pp more</a:t>
            </a:r>
            <a:br/>
            <a:r>
              <a:t>obesity, and its residents die nearly 6 years earlier than a tract in the best decile.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Honest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B949E"/>
                </a:solidFill>
              </a:defRPr>
            </a:pPr>
            <a:r>
              <a:t>We believe transparency strengthens, not weakens, our analysis.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883E"/>
                </a:solidFill>
              </a:defRPr>
            </a:pPr>
            <a:r>
              <a:t>Ecological fallacy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11887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Tract-level data — we cannot infer individual risk from area-level patterns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5564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883E"/>
                </a:solidFill>
              </a:defRPr>
            </a:pPr>
            <a:r>
              <a:t>Correlation ≠ causation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75564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Cross-sectional, observational study with unmeasured confounders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22576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883E"/>
                </a:solidFill>
              </a:defRPr>
            </a:pPr>
            <a:r>
              <a:t>Census tract mismatch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322576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USDA (2010) vs PLACES (2020) tracts; ~85-95% match, high-growth metros lose more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889504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883E"/>
                </a:solidFill>
              </a:defRPr>
            </a:pPr>
            <a:r>
              <a:t>Race classification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889504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40% plurality among White/Black/Hispanic only; erases Asian, Native, multiracial communities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45643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883E"/>
                </a:solidFill>
              </a:defRPr>
            </a:pPr>
            <a:r>
              <a:t>Spatial autocorrelation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45643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Neighboring tracts are correlated → inflated effective sample size → p-values too small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023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883E"/>
                </a:solidFill>
              </a:defRPr>
            </a:pPr>
            <a:r>
              <a:t>Multiple comparisons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40233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~15 tests without FDR correction; family-wise error rate ~54%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59028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883E"/>
                </a:solidFill>
              </a:defRPr>
            </a:pPr>
            <a:r>
              <a:t>No population weighting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459028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Rural tracts (1,500 people) weighted equally with urban tracts (7,500)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157216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883E"/>
                </a:solidFill>
              </a:defRPr>
            </a:pPr>
            <a:r>
              <a:t>Modeled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5157216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CDC PLACES uses small-area estimation, not direct measurement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Conclusion: Target Places, Not Just People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1C40F"/>
                </a:solidFill>
              </a:defRPr>
            </a:pPr>
            <a:r>
              <a:t>These findings reframe obesity and diabetes from personal failings to</a:t>
            </a:r>
            <a:br/>
            <a:r>
              <a:t>systemic outcomes. Food access, income, healthcare availability, and race</a:t>
            </a:r>
            <a:br/>
            <a:r>
              <a:t>compound geographically to create zones of health disadvantage.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5603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Policy Recommendations: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</a:defRPr>
            </a:pPr>
            <a:r>
              <a:t>Bring grocery stores and fresh food access to USDA-classified food deserts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</a:defRPr>
            </a:pPr>
            <a:r>
              <a:t>Expand Medicaid and community health centers in HRSA shortage areas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</a:defRPr>
            </a:pPr>
            <a:r>
              <a:t>Invest in education — the #1 predictor of life expectancy (β = +1.31)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</a:defRPr>
            </a:pPr>
            <a:r>
              <a:t>Target the worst-HDI tracts directly — they are identifiable in our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8463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</a:defRPr>
            </a:pPr>
            <a:r>
              <a:t>Future Work: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035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8B949E"/>
                </a:solidFill>
              </a:defRPr>
            </a:pPr>
            <a:r>
              <a:t>Validate with individual-level NHANES data</a:t>
            </a:r>
          </a:p>
          <a:p>
            <a:pPr>
              <a:spcAft>
                <a:spcPts val="600"/>
              </a:spcAft>
              <a:defRPr sz="1500">
                <a:solidFill>
                  <a:srgbClr val="8B949E"/>
                </a:solidFill>
              </a:defRPr>
            </a:pPr>
            <a:r>
              <a:t>Spatial regression models (Moran's I, spatial lag) to account for clustering</a:t>
            </a:r>
          </a:p>
          <a:p>
            <a:pPr>
              <a:spcAft>
                <a:spcPts val="600"/>
              </a:spcAft>
              <a:defRPr sz="1500">
                <a:solidFill>
                  <a:srgbClr val="8B949E"/>
                </a:solidFill>
              </a:defRPr>
            </a:pPr>
            <a:r>
              <a:t>Temporal analysis: did food desert tracts fare worse during COVID-19?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1F6FEB"/>
                </a:solidFill>
              </a:defRPr>
            </a:pPr>
            <a:r>
              <a:t>Team 2Kim  |  Jimmy + Alice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B949E"/>
                </a:solidFill>
              </a:defRPr>
            </a:pPr>
            <a:r>
              <a:t>27,235 census tracts  |  5 federal datasets  |  4 analysis phases</a:t>
            </a:r>
            <a:br/>
            <a:r>
              <a:t>github.com/jimbo111/datathon-kims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7548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0883E"/>
                </a:solidFill>
              </a:defRPr>
            </a:pPr>
            <a:r>
              <a:t>"We identified the tracts. The data is public.</a:t>
            </a:r>
            <a:br/>
            <a:r>
              <a:t>The question is whether we act on it."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